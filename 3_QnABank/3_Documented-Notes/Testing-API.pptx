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modernComment_102_4D07B0F9.xml" ContentType="application/vnd.ms-powerpoint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257" r:id="rId3"/>
    <p:sldId id="258" r:id="rId4"/>
    <p:sldId id="265" r:id="rId5"/>
    <p:sldId id="264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62ADED-3F1E-C187-F83B-5366BC577C4E}" name="Shishu V" initials="SV" userId="S::VShishupal@JohnDeere.com::c5f15d95-50d4-459e-9153-d7fb879437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C072B-5D98-4E40-9043-6360C4D973E0}" v="1" dt="2025-12-18T04:16:13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omments/modernComment_102_4D07B0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513E5C-0000-46D4-B0F9-EA7FAC7F3FAC}" authorId="{DB62ADED-3F1E-C187-F83B-5366BC577C4E}" created="2025-12-02T06:05:32.259">
    <pc:sldMkLst xmlns:pc="http://schemas.microsoft.com/office/powerpoint/2013/main/command">
      <pc:docMk/>
      <pc:sldMk cId="1292349689" sldId="258"/>
    </pc:sldMkLst>
    <p188:txBody>
      <a:bodyPr/>
      <a:lstStyle/>
      <a:p>
        <a:r>
          <a:rPr lang="en-US"/>
          <a:t>Why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B4C74-FFA2-48F4-B1F3-56EEF8973E2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B680C-C9B6-4B78-9CB7-066F3FF20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9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680C-C9B6-4B78-9CB7-066F3FF20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81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236D-5DC7-4750-845E-7DD58643676F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5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5EB1-FF83-4D76-918B-167CD1F0DD1E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7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52F-CBA0-4BA6-AD28-C88F14242A36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1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1562-3F69-437B-80CB-81E839CABF2A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7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C0989-BB3A-42D8-9B3E-F3D491B743EC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8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B32D-83DE-446F-B00F-5E902735CC27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63A6-2BA8-4B65-8623-7DA863384326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5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F5DA-EBF7-447F-984C-F0EEFC1330B2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5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BA48E-A0C9-4407-9EE2-D9047A2D85FC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1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D1A8C-DC51-4BEC-96FC-BFA58D1E995D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8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16E2E-69BB-43FD-ADB0-137B8EFC45B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2987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3649F-E73D-41DA-9FC2-1DEE71BDADA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34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BD11A-F40C-4BD1-BD64-A99D9E73307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57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1FD1-C294-4FE0-9052-D28CDAFD87D9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F752C-B206-4D50-B9DC-27A04C1395C2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61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96B1-718F-4750-ADBC-8D2F988AF3FC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4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31D67-4B74-4C4B-A8AA-BBA6ACDF3801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Sprint Review 24.8 | 23-04-2024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A4F52C-FADB-451A-B1A1-40274B4B7F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BF40D-12A5-7D81-6B09-DF156355E58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18888" y="6642100"/>
            <a:ext cx="7381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19142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4D07B0F9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deer logo on a black bag&#10;&#10;Description automatically generated">
            <a:extLst>
              <a:ext uri="{FF2B5EF4-FFF2-40B4-BE49-F238E27FC236}">
                <a16:creationId xmlns:a16="http://schemas.microsoft.com/office/drawing/2014/main" id="{4563916C-882C-0610-6C2A-3F34B5F00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90" t="9091" r="21313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</p:spPr>
      </p:pic>
      <p:sp>
        <p:nvSpPr>
          <p:cNvPr id="5" name="Title 9">
            <a:extLst>
              <a:ext uri="{FF2B5EF4-FFF2-40B4-BE49-F238E27FC236}">
                <a16:creationId xmlns:a16="http://schemas.microsoft.com/office/drawing/2014/main" id="{A6316CA0-5367-47A6-D4BF-3956A37757D6}"/>
              </a:ext>
            </a:extLst>
          </p:cNvPr>
          <p:cNvSpPr txBox="1">
            <a:spLocks/>
          </p:cNvSpPr>
          <p:nvPr/>
        </p:nvSpPr>
        <p:spPr>
          <a:xfrm>
            <a:off x="-1228725" y="61932"/>
            <a:ext cx="6415088" cy="3390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3200" dirty="0"/>
              <a:t>Automation: API Testing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16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A6316CA0-5367-47A6-D4BF-3956A37757D6}"/>
              </a:ext>
            </a:extLst>
          </p:cNvPr>
          <p:cNvSpPr txBox="1">
            <a:spLocks/>
          </p:cNvSpPr>
          <p:nvPr/>
        </p:nvSpPr>
        <p:spPr>
          <a:xfrm>
            <a:off x="677334" y="0"/>
            <a:ext cx="8669865" cy="945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800" dirty="0"/>
              <a:t>Agenda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B3996936-E4A4-270E-4C4C-947F8BA1B047}"/>
              </a:ext>
            </a:extLst>
          </p:cNvPr>
          <p:cNvSpPr txBox="1"/>
          <p:nvPr/>
        </p:nvSpPr>
        <p:spPr>
          <a:xfrm>
            <a:off x="759631" y="1523591"/>
            <a:ext cx="9270194" cy="36519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742950" lvl="1" indent="-28575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0" spc="40" dirty="0">
                <a:solidFill>
                  <a:srgbClr val="000000"/>
                </a:solidFill>
                <a:latin typeface="Arial" charset="0"/>
                <a:cs typeface="Arial"/>
              </a:rPr>
              <a:t>About API Testing (Why, What &amp; How).</a:t>
            </a:r>
          </a:p>
          <a:p>
            <a:pPr marL="742950" lvl="1" indent="-28575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0" spc="40" dirty="0">
                <a:solidFill>
                  <a:srgbClr val="000000"/>
                </a:solidFill>
                <a:latin typeface="Arial" charset="0"/>
                <a:cs typeface="Arial"/>
              </a:rPr>
              <a:t>Automation (Playwright) Demo.</a:t>
            </a:r>
          </a:p>
          <a:p>
            <a:pPr marL="742950" lvl="1" indent="-28575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0" spc="40" dirty="0">
                <a:solidFill>
                  <a:srgbClr val="000000"/>
                </a:solidFill>
                <a:latin typeface="Arial" charset="0"/>
                <a:cs typeface="Arial"/>
              </a:rPr>
              <a:t>Advantages of Automating API </a:t>
            </a:r>
            <a:r>
              <a:rPr lang="en-IN" sz="2000" b="0" spc="40">
                <a:solidFill>
                  <a:srgbClr val="000000"/>
                </a:solidFill>
                <a:latin typeface="Arial" charset="0"/>
                <a:cs typeface="Arial"/>
              </a:rPr>
              <a:t>Testing. </a:t>
            </a:r>
          </a:p>
          <a:p>
            <a:pPr marL="742950" lvl="1" indent="-28575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0" spc="40">
                <a:solidFill>
                  <a:srgbClr val="000000"/>
                </a:solidFill>
                <a:latin typeface="Arial" charset="0"/>
                <a:cs typeface="Arial"/>
              </a:rPr>
              <a:t>Questions </a:t>
            </a:r>
            <a:r>
              <a:rPr lang="en-IN" sz="2000" b="0" spc="40" dirty="0">
                <a:solidFill>
                  <a:srgbClr val="000000"/>
                </a:solidFill>
                <a:latin typeface="Arial" charset="0"/>
                <a:cs typeface="Arial"/>
              </a:rPr>
              <a:t>&amp; Queries.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endParaRPr lang="en-IN" sz="1600" b="0" spc="40" dirty="0">
              <a:solidFill>
                <a:srgbClr val="000000"/>
              </a:solidFill>
              <a:latin typeface="Arial" charset="0"/>
              <a:cs typeface="Arial"/>
            </a:endParaRPr>
          </a:p>
          <a:p>
            <a:pPr lvl="1">
              <a:lnSpc>
                <a:spcPct val="110000"/>
              </a:lnSpc>
              <a:spcAft>
                <a:spcPts val="900"/>
              </a:spcAft>
            </a:pPr>
            <a:endParaRPr lang="en-IN" sz="1600" b="0" spc="40" dirty="0">
              <a:solidFill>
                <a:srgbClr val="000000"/>
              </a:solidFill>
              <a:latin typeface="Arial" charset="0"/>
              <a:cs typeface="Arial"/>
            </a:endParaRPr>
          </a:p>
          <a:p>
            <a:pPr lvl="1">
              <a:lnSpc>
                <a:spcPct val="110000"/>
              </a:lnSpc>
              <a:spcAft>
                <a:spcPts val="900"/>
              </a:spcAft>
              <a:buFont typeface="Wingdings" panose="020B0604020202020204" pitchFamily="34" charset="0"/>
            </a:pPr>
            <a:endParaRPr lang="en-IN" sz="1600" b="0" spc="40" dirty="0">
              <a:solidFill>
                <a:srgbClr val="000000"/>
              </a:solidFill>
              <a:latin typeface="Arial" charset="0"/>
              <a:cs typeface="Arial"/>
            </a:endParaRPr>
          </a:p>
          <a:p>
            <a:pPr>
              <a:lnSpc>
                <a:spcPct val="110000"/>
              </a:lnSpc>
              <a:spcAft>
                <a:spcPts val="900"/>
              </a:spcAft>
            </a:pPr>
            <a:endParaRPr lang="en-IN" sz="2000" b="0" spc="40" dirty="0">
              <a:solidFill>
                <a:srgbClr val="000000"/>
              </a:solidFill>
              <a:latin typeface="Arial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882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A6316CA0-5367-47A6-D4BF-3956A37757D6}"/>
              </a:ext>
            </a:extLst>
          </p:cNvPr>
          <p:cNvSpPr txBox="1">
            <a:spLocks/>
          </p:cNvSpPr>
          <p:nvPr/>
        </p:nvSpPr>
        <p:spPr>
          <a:xfrm>
            <a:off x="539590" y="-150828"/>
            <a:ext cx="8494776" cy="934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API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3705C-964F-D269-D400-6B02C62F2CEB}"/>
              </a:ext>
            </a:extLst>
          </p:cNvPr>
          <p:cNvSpPr txBox="1"/>
          <p:nvPr/>
        </p:nvSpPr>
        <p:spPr>
          <a:xfrm>
            <a:off x="635602" y="783394"/>
            <a:ext cx="902687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API testing ensures APIs work correctly, securely, and efficiently between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Data Integrity</a:t>
            </a:r>
            <a:r>
              <a:rPr lang="en-US" sz="1200" dirty="0"/>
              <a:t>: Are inputs and outputs correct?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Security</a:t>
            </a:r>
            <a:r>
              <a:rPr lang="en-US" sz="1200" dirty="0"/>
              <a:t>: Is the API protected against unauthorized access?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Performance</a:t>
            </a:r>
            <a:r>
              <a:rPr lang="en-US" sz="1200" dirty="0"/>
              <a:t>: Does it respond within acceptable time limits?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Functionality</a:t>
            </a:r>
            <a:r>
              <a:rPr lang="en-US" sz="1200" dirty="0"/>
              <a:t>: Does the API do what it’s supposed to?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Common Check: </a:t>
            </a:r>
            <a:r>
              <a:rPr lang="en-US" sz="1200" dirty="0"/>
              <a:t>HTTP status, Req/Res Format, Error Handling, Authentication &amp; Authorization, Load &amp; stress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Unit level 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i="1" u="sng" dirty="0"/>
              <a:t>Developer</a:t>
            </a:r>
            <a:r>
              <a:rPr lang="en-US" sz="1200" dirty="0"/>
              <a:t> does that to validate </a:t>
            </a:r>
            <a:r>
              <a:rPr lang="en-US" sz="1200" u="sng" dirty="0"/>
              <a:t>single </a:t>
            </a:r>
            <a:r>
              <a:rPr lang="en-US" sz="1200" i="1" u="sng" dirty="0"/>
              <a:t>API functionality </a:t>
            </a:r>
            <a:r>
              <a:rPr lang="en-US" sz="1200" dirty="0"/>
              <a:t>via manual efforts using tools like (Postman, Insomnia, </a:t>
            </a:r>
            <a:r>
              <a:rPr lang="en-US" sz="1200" dirty="0" err="1"/>
              <a:t>etc</a:t>
            </a:r>
            <a:r>
              <a:rPr lang="en-US" sz="1200" dirty="0"/>
              <a:t>) to test the </a:t>
            </a:r>
            <a:r>
              <a:rPr lang="en-US" sz="1200" i="1" u="sng" dirty="0"/>
              <a:t>logic</a:t>
            </a:r>
            <a:r>
              <a:rPr lang="en-US" sz="1200" dirty="0"/>
              <a:t> of standalone API.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Integration level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i="1" u="sng" dirty="0"/>
              <a:t>Developer &amp; Tester</a:t>
            </a:r>
            <a:r>
              <a:rPr lang="en-US" sz="1200" dirty="0"/>
              <a:t> does that to check </a:t>
            </a:r>
            <a:r>
              <a:rPr lang="en-US" sz="1200" i="1" u="sng" dirty="0"/>
              <a:t>how multiple APIs interact with each </a:t>
            </a:r>
            <a:r>
              <a:rPr lang="en-US" sz="1200" u="sng" dirty="0"/>
              <a:t>other</a:t>
            </a:r>
            <a:r>
              <a:rPr lang="en-US" sz="1200" dirty="0"/>
              <a:t> via manual efforts using tools like (Postman, Insomnia, </a:t>
            </a:r>
            <a:r>
              <a:rPr lang="en-US" sz="1200" dirty="0" err="1"/>
              <a:t>etc</a:t>
            </a:r>
            <a:r>
              <a:rPr lang="en-US" sz="1200" dirty="0"/>
              <a:t>) to test</a:t>
            </a:r>
            <a:r>
              <a:rPr lang="en-US" sz="1200" i="1" u="sng" dirty="0"/>
              <a:t> data flows correctly between components and systems</a:t>
            </a:r>
            <a:r>
              <a:rPr lang="en-US" sz="1200" dirty="0"/>
              <a:t>.</a:t>
            </a:r>
            <a:endParaRPr lang="en-US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System level </a:t>
            </a:r>
            <a:r>
              <a:rPr lang="en-US" sz="12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i="1" u="sng" dirty="0"/>
              <a:t>Team </a:t>
            </a:r>
            <a:r>
              <a:rPr lang="en-US" sz="1200" dirty="0"/>
              <a:t>does that to check </a:t>
            </a:r>
            <a:r>
              <a:rPr lang="en-US" sz="1200" i="1" u="sng" dirty="0"/>
              <a:t>Testing APIs as part of the entire application workflow</a:t>
            </a:r>
            <a:r>
              <a:rPr lang="en-US" sz="1200" dirty="0"/>
              <a:t> via manual efforts using tools like (Postman, Insomnia, </a:t>
            </a:r>
            <a:r>
              <a:rPr lang="en-US" sz="1200" dirty="0" err="1"/>
              <a:t>etc</a:t>
            </a:r>
            <a:r>
              <a:rPr lang="en-US" sz="1200" dirty="0"/>
              <a:t>) to test </a:t>
            </a:r>
            <a:r>
              <a:rPr lang="en-US" sz="1200" i="1" u="sng" dirty="0"/>
              <a:t>APIs work correctly in the full application context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Security and </a:t>
            </a:r>
            <a:r>
              <a:rPr lang="en-US" sz="1200" b="1" dirty="0" err="1"/>
              <a:t>Permormance</a:t>
            </a:r>
            <a:r>
              <a:rPr lang="en-US" sz="1200" b="1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i="1" u="sng" dirty="0"/>
              <a:t>Team</a:t>
            </a:r>
            <a:r>
              <a:rPr lang="en-US" sz="1200" dirty="0"/>
              <a:t> does that to check </a:t>
            </a:r>
            <a:r>
              <a:rPr lang="en-US" sz="1200" i="1" u="sng" dirty="0"/>
              <a:t>Stress, load, and security testing of APIs </a:t>
            </a:r>
            <a:r>
              <a:rPr lang="en-US" sz="1200" dirty="0"/>
              <a:t>via manual efforts using tools like (JMeter) to Check </a:t>
            </a:r>
            <a:r>
              <a:rPr lang="en-US" sz="1200" i="1" u="sng" dirty="0"/>
              <a:t>scalability, reliability, and protection against vulnerabilities</a:t>
            </a:r>
            <a:r>
              <a:rPr lang="en-US" sz="1200" dirty="0"/>
              <a:t>.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Developers: </a:t>
            </a:r>
            <a:r>
              <a:rPr lang="en-US" sz="1200" dirty="0"/>
              <a:t>Often perform unit-level API tests during development</a:t>
            </a:r>
            <a:endParaRPr lang="en-US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QA Engineers: </a:t>
            </a:r>
            <a:r>
              <a:rPr lang="en-US" sz="1200" dirty="0"/>
              <a:t>Typically responsible for writing and executing API test cases</a:t>
            </a:r>
            <a:endParaRPr lang="en-US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Automation: </a:t>
            </a:r>
            <a:r>
              <a:rPr lang="en-US" sz="1200" dirty="0"/>
              <a:t>Implement automated API tests using tools like Postman, </a:t>
            </a:r>
            <a:r>
              <a:rPr lang="en-US" sz="1200" dirty="0" err="1"/>
              <a:t>RestAssured</a:t>
            </a:r>
            <a:r>
              <a:rPr lang="en-US" sz="1200" dirty="0"/>
              <a:t>, or JMeter</a:t>
            </a:r>
            <a:endParaRPr lang="en-US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Engineer DevOps Teams: </a:t>
            </a:r>
            <a:r>
              <a:rPr lang="en-US" sz="1200" dirty="0"/>
              <a:t>Validate APIs in CI/CD pipelines to ensure continuous quality</a:t>
            </a:r>
            <a:endParaRPr lang="en-US" sz="1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b="1" dirty="0"/>
              <a:t>NOTE: </a:t>
            </a:r>
            <a:r>
              <a:rPr lang="en-US" sz="1200" dirty="0">
                <a:solidFill>
                  <a:schemeClr val="accent1"/>
                </a:solidFill>
              </a:rPr>
              <a:t>API testing is crucial because APIs are the backbone of modern applications, especially in microservices and cloud-based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2923496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6AB9-5116-BC7C-2F03-5D576946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5F04-1F4F-87EE-05A0-34779234ABEF}"/>
              </a:ext>
            </a:extLst>
          </p:cNvPr>
          <p:cNvSpPr txBox="1">
            <a:spLocks/>
          </p:cNvSpPr>
          <p:nvPr/>
        </p:nvSpPr>
        <p:spPr bwMode="auto">
          <a:xfrm>
            <a:off x="1089588" y="2566671"/>
            <a:ext cx="8203394" cy="76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600" b="1" i="0" spc="40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9pPr>
          </a:lstStyle>
          <a:p>
            <a:pPr lvl="6" algn="ctr"/>
            <a:endParaRPr lang="en-US" kern="0" dirty="0">
              <a:latin typeface="Arial"/>
              <a:ea typeface="Verdana"/>
              <a:cs typeface="Arial"/>
            </a:endParaRPr>
          </a:p>
          <a:p>
            <a:pPr lvl="6" algn="ctr"/>
            <a:r>
              <a:rPr lang="en-US" kern="0" dirty="0">
                <a:latin typeface="Arial"/>
                <a:ea typeface="Verdana"/>
                <a:cs typeface="Arial"/>
              </a:rPr>
              <a:t>Demo</a:t>
            </a:r>
            <a:endParaRPr lang="en-US" kern="0" dirty="0">
              <a:latin typeface="Arial"/>
              <a:ea typeface="Verdana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50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47F1-87FF-A1C4-63DA-8A0CE98CBA98}"/>
              </a:ext>
            </a:extLst>
          </p:cNvPr>
          <p:cNvSpPr txBox="1">
            <a:spLocks/>
          </p:cNvSpPr>
          <p:nvPr/>
        </p:nvSpPr>
        <p:spPr bwMode="auto">
          <a:xfrm>
            <a:off x="1089588" y="2566671"/>
            <a:ext cx="8203394" cy="76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sz="2600" b="1" i="0" spc="40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9pPr>
          </a:lstStyle>
          <a:p>
            <a:pPr lvl="6" algn="ctr"/>
            <a:endParaRPr lang="en-US" kern="0">
              <a:latin typeface="Arial"/>
              <a:ea typeface="Verdana"/>
              <a:cs typeface="Arial"/>
            </a:endParaRPr>
          </a:p>
          <a:p>
            <a:pPr lvl="6" algn="ctr"/>
            <a:r>
              <a:rPr lang="en-US" kern="0">
                <a:latin typeface="Arial"/>
                <a:ea typeface="Verdana"/>
                <a:cs typeface="Arial"/>
              </a:rPr>
              <a:t>Q&amp;A</a:t>
            </a:r>
            <a:endParaRPr lang="en-US" kern="0">
              <a:latin typeface="Arial"/>
              <a:ea typeface="Verdana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663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een deer logo on a black bag&#10;&#10;Description automatically generated">
            <a:extLst>
              <a:ext uri="{FF2B5EF4-FFF2-40B4-BE49-F238E27FC236}">
                <a16:creationId xmlns:a16="http://schemas.microsoft.com/office/drawing/2014/main" id="{FA78D674-2C88-BA0C-E8E1-5CC905297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730"/>
          <a:stretch/>
        </p:blipFill>
        <p:spPr>
          <a:xfrm>
            <a:off x="2016613" y="1131994"/>
            <a:ext cx="8160651" cy="45903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45026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3F7818"/>
      </a:accent1>
      <a:accent2>
        <a:srgbClr val="3F7818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1603</TotalTime>
  <Words>344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Deere &amp;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Shishu V</dc:creator>
  <cp:lastModifiedBy>Shishu V</cp:lastModifiedBy>
  <cp:revision>3</cp:revision>
  <dcterms:created xsi:type="dcterms:W3CDTF">2024-04-22T05:13:59Z</dcterms:created>
  <dcterms:modified xsi:type="dcterms:W3CDTF">2026-01-20T08:59:10Z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8fff8-b053-4fb1-90cd-f0bc93ae9791_Enabled">
    <vt:lpwstr>true</vt:lpwstr>
  </property>
  <property fmtid="{D5CDD505-2E9C-101B-9397-08002B2CF9AE}" pid="3" name="MSIP_Label_6388fff8-b053-4fb1-90cd-f0bc93ae9791_SetDate">
    <vt:lpwstr>2024-04-22T06:40:57Z</vt:lpwstr>
  </property>
  <property fmtid="{D5CDD505-2E9C-101B-9397-08002B2CF9AE}" pid="4" name="MSIP_Label_6388fff8-b053-4fb1-90cd-f0bc93ae9791_Method">
    <vt:lpwstr>Privileged</vt:lpwstr>
  </property>
  <property fmtid="{D5CDD505-2E9C-101B-9397-08002B2CF9AE}" pid="5" name="MSIP_Label_6388fff8-b053-4fb1-90cd-f0bc93ae9791_Name">
    <vt:lpwstr>Company Use</vt:lpwstr>
  </property>
  <property fmtid="{D5CDD505-2E9C-101B-9397-08002B2CF9AE}" pid="6" name="MSIP_Label_6388fff8-b053-4fb1-90cd-f0bc93ae9791_SiteId">
    <vt:lpwstr>39b03722-b836-496a-85ec-850f0957ca6b</vt:lpwstr>
  </property>
  <property fmtid="{D5CDD505-2E9C-101B-9397-08002B2CF9AE}" pid="7" name="MSIP_Label_6388fff8-b053-4fb1-90cd-f0bc93ae9791_ActionId">
    <vt:lpwstr>2f941c09-e715-47bc-ae0d-fac14a1a9d5c</vt:lpwstr>
  </property>
  <property fmtid="{D5CDD505-2E9C-101B-9397-08002B2CF9AE}" pid="8" name="MSIP_Label_6388fff8-b053-4fb1-90cd-f0bc93ae9791_ContentBits">
    <vt:lpwstr>2</vt:lpwstr>
  </property>
  <property fmtid="{D5CDD505-2E9C-101B-9397-08002B2CF9AE}" pid="9" name="ClassificationContentMarkingFooterLocations">
    <vt:lpwstr>Facet:9</vt:lpwstr>
  </property>
  <property fmtid="{D5CDD505-2E9C-101B-9397-08002B2CF9AE}" pid="10" name="ClassificationContentMarkingFooterText">
    <vt:lpwstr>Company Use</vt:lpwstr>
  </property>
</Properties>
</file>